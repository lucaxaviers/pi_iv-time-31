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 a todos e professora Renata. Apresentamos hoje o AlugaMáquina, uma plataforma de economia compartilhada desenhada sob medida para o agronegócio regional, conectando produtores rurais a máquinas e implementos que ficam meses ociosos entre as safras.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central identificado em nossa pesquisa de campo é o descompasso econômico: de um lado, produtores enfrentam o custo proibitivo de aquisição de máquinas pesadas; de outro, frotas passam meses ociosas nas garagens fora dos períodos de pico, enquanto as negociações permanecem informais e sem respaldo jurídico.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solução estrutura um ecossistema triangular: o proprietário anuncia e rentabiliza o trator parado; o agricultor aluga sob demanda sem financiamentos pesados; e a plataforma intermedia com segurança jurídica, frete transparente e vistoria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 Antônio, 45 anos, produtor rural de médio porte da região de Paulínia/SP. Precisa alugar uma colheitadeira por um período determinado da safra e não deseja financiar a compra do equipamento. Receio de ser enganado num negócio informal; quer aumentar a produtividade sem comprometer o caixa da safra; sente que comprar a máquina não compensa pelo pouco uso ao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comparação entre o modelo tradicional e o AlugaMáquina é contundente: transformamos uma negociação de boca informal, sem caução e com frete incerto, em um ecossistema seguro com contrato formal, checklist e cálculo de frete por quilômetro.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de negócio baseia-se em comissão por aluguel intermediado, conforme o Business Model Canvas, além de taxa sobre serviços integrados de frete regional. Parcerias com cooperativas aceleram a adesão de proprietários de máquinas sem custo fixo de frota.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escopo do nosso MVP contempla as 7 funcionalidades essenciais aprovadas: Cadastro de Máquinas, Busca e Filtro Regional, Verificação Técnica Assistida, Cálculo de Frete Estimado, Contrato Digital Simplificado, Chat entre as Partes e Avaliação Pós-Locação.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stack tecnológica utiliza as 6 ferramentas aprovadas: Java no backend para regras de negócio e APIs; TypeScript/JavaScript com HTML e CSS no frontend; MongoDB Atlas gerenciado em nuvem; WhatsApp Business API para reforço de comunicação e checklist assistido; e Google Forms na validação com o público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Cronograma 5W2H em 8 semanas com responsáveis definidos: Semanas 1-2 Cadastro de máquinas (Lucas Xavier); Semanas 2-3 Busca e filtro regional (Mateus Oliveira); Semana 3 Cálculo de frete estimado (Tiago Medeiros); Semana 4 Contrato digital simplificado (Kauan Dias); Semanas 4-5 Chat entre as partes (Leonardo Alves); Semana 5 Avaliação pós-locação (Lucas Xavier); Semana 6 Testes piloto (Todo o grupo); Semanas 7-8 Ajustes e lançamento do MVP (Todo o grupo).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Demonstramos aqui os wireframes de baixa fidelidade das três etapas cruciais: a tela de busca regional com filtro por raio de quilômetros; a página de detalhes com cálculo automático de frete; e a tela de geração do contrato digital em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cruzada de SWOT define os quatro pilares estratégicos de entrada: cooperativas para canal confiável (SO), isenção inicial para atrair frota (WO), vistoria fotográfica para superar desconfiança (ST) e foco local estrito para ter liquidez (WT).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Lançamento piloto na região de Paulínia e municípios vizinhos. Modelo focado em validação com pequenos e médios produtores e cooperativas da região, em ciclo de 8 semanas para consolidar a operação e reputação antes de expandir.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Agradecemos a todos pela atenção e à professora Renata pela orientação nesta jornada de ideação e validação do AlugaMáquina. Estamos abertos a perguntas e considerações da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cover_bg_harv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:\Users\lucas\Downloads\prototipo\assets\bg_dot_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326880" y="-1097280"/>
            <a:ext cx="3840480" cy="384048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966960" y="-457200"/>
            <a:ext cx="2560320" cy="2560320"/>
          </a:xfrm>
          <a:prstGeom prst="ellipse">
            <a:avLst/>
          </a:prstGeom>
          <a:ln w="12700">
            <a:solidFill>
              <a:srgbClr val="7CB342">
                <a:alpha val="15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48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[PUC-CAMPINAS • ENGENHARIA DE SOFTWARE • 4º SEMESTRE]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1520" y="9601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1463040"/>
            <a:ext cx="107259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4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Aluga</a:t>
            </a:r>
            <a:endParaRPr lang="en-US" sz="9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4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Máquina</a:t>
            </a:r>
            <a:endParaRPr lang="en-US" sz="9400" dirty="0"/>
          </a:p>
        </p:txBody>
      </p:sp>
      <p:sp>
        <p:nvSpPr>
          <p:cNvPr id="13" name="Text 9"/>
          <p:cNvSpPr/>
          <p:nvPr/>
        </p:nvSpPr>
        <p:spPr>
          <a:xfrm>
            <a:off x="731520" y="4663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plataforma digital que conecta produtores rurais a máquinas agrícolas ociosas.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31520" y="566928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58978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Kauan Dias · Leonardo Alves · Lucas Xavier · Mateus Oliveira · Tiago Medeiros · Orientadora: Profa. Dra. Renata Arantes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961120" y="3657600"/>
            <a:ext cx="4389120" cy="438912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9692640" y="4389120"/>
            <a:ext cx="2926080" cy="2926080"/>
          </a:xfrm>
          <a:prstGeom prst="ellipse">
            <a:avLst/>
          </a:prstGeom>
          <a:ln w="12700">
            <a:solidFill>
              <a:srgbClr val="7CB342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[01 — O PROBLEMA]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31520" y="11430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descompasso do maquinário.</a:t>
            </a:r>
            <a:endParaRPr lang="en-US" sz="5200" dirty="0"/>
          </a:p>
        </p:txBody>
      </p:sp>
      <p:sp>
        <p:nvSpPr>
          <p:cNvPr id="16" name="Shape 13"/>
          <p:cNvSpPr/>
          <p:nvPr/>
        </p:nvSpPr>
        <p:spPr>
          <a:xfrm>
            <a:off x="731520" y="2286000"/>
            <a:ext cx="3337560" cy="3749040"/>
          </a:xfrm>
          <a:prstGeom prst="roundRect">
            <a:avLst/>
          </a:prstGeom>
          <a:solidFill>
            <a:srgbClr val="F5F1E8">
              <a:alpha val="5000"/>
            </a:srgbClr>
          </a:solidFill>
          <a:ln w="12700">
            <a:solidFill>
              <a:srgbClr val="F5F1E8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60120" y="25603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Alto Custo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960120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de aquisição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60120" y="4343400"/>
            <a:ext cx="1371600" cy="0"/>
          </a:xfrm>
          <a:prstGeom prst="line">
            <a:avLst/>
          </a:prstGeom>
          <a:noFill/>
          <a:ln w="15240">
            <a:solidFill>
              <a:srgbClr val="F2C94C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60120" y="4526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custo proibitivo de aquisição inviabiliza a compra para o pequeno produtor.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425696" y="2286000"/>
            <a:ext cx="3337560" cy="3749040"/>
          </a:xfrm>
          <a:prstGeom prst="roundRect">
            <a:avLst/>
          </a:prstGeom>
          <a:solidFill>
            <a:srgbClr val="F5F1E8">
              <a:alpha val="5000"/>
            </a:srgbClr>
          </a:solidFill>
          <a:ln w="12700">
            <a:solidFill>
              <a:srgbClr val="F5F1E8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654296" y="25603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Meses Parados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4654296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Frotas na entressafra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654296" y="4343400"/>
            <a:ext cx="1371600" cy="0"/>
          </a:xfrm>
          <a:prstGeom prst="line">
            <a:avLst/>
          </a:prstGeom>
          <a:noFill/>
          <a:ln w="15240">
            <a:solidFill>
              <a:srgbClr val="F2C94C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654296" y="4526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Equipamentos caros passam meses ociosos nas garagens dos donos fora dos períodos de pico.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119872" y="2286000"/>
            <a:ext cx="3337560" cy="3749040"/>
          </a:xfrm>
          <a:prstGeom prst="roundRect">
            <a:avLst/>
          </a:prstGeom>
          <a:solidFill>
            <a:srgbClr val="F5F1E8">
              <a:alpha val="5000"/>
            </a:srgbClr>
          </a:solidFill>
          <a:ln w="12700">
            <a:solidFill>
              <a:srgbClr val="F5F1E8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348472" y="25603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Sem Contrato</a:t>
            </a:r>
            <a:endParaRPr lang="en-US" sz="4400" dirty="0"/>
          </a:p>
        </p:txBody>
      </p:sp>
      <p:sp>
        <p:nvSpPr>
          <p:cNvPr id="28" name="Text 25"/>
          <p:cNvSpPr/>
          <p:nvPr/>
        </p:nvSpPr>
        <p:spPr>
          <a:xfrm>
            <a:off x="8348472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Negociação informal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348472" y="4343400"/>
            <a:ext cx="1371600" cy="0"/>
          </a:xfrm>
          <a:prstGeom prst="line">
            <a:avLst/>
          </a:prstGeom>
          <a:noFill/>
          <a:ln w="15240">
            <a:solidFill>
              <a:srgbClr val="F2C94C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8348472" y="4526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Acordos sem contrato — locações feitas por boca a boca, sem caução, vistoria formal ou respaldo jurídico.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[02 — A SOLUÇÃO]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09728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Marketplace regional seguro.</a:t>
            </a:r>
            <a:endParaRPr lang="en-US" sz="5000" dirty="0"/>
          </a:p>
        </p:txBody>
      </p:sp>
      <p:sp>
        <p:nvSpPr>
          <p:cNvPr id="15" name="Shape 12"/>
          <p:cNvSpPr/>
          <p:nvPr/>
        </p:nvSpPr>
        <p:spPr>
          <a:xfrm>
            <a:off x="731520" y="2011680"/>
            <a:ext cx="3337560" cy="411480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2286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[LOCADOR]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" y="2606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Anuncia</a:t>
            </a:r>
            <a:endParaRPr lang="en-US" sz="3200" dirty="0"/>
          </a:p>
        </p:txBody>
      </p:sp>
      <p:sp>
        <p:nvSpPr>
          <p:cNvPr id="18" name="Shape 15"/>
          <p:cNvSpPr/>
          <p:nvPr/>
        </p:nvSpPr>
        <p:spPr>
          <a:xfrm>
            <a:off x="1005840" y="3291840"/>
            <a:ext cx="2788920" cy="0"/>
          </a:xfrm>
          <a:prstGeom prst="line">
            <a:avLst/>
          </a:prstGeom>
          <a:noFill/>
          <a:ln w="12700">
            <a:solidFill>
              <a:srgbClr val="1A1A1A">
                <a:alpha val="1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35204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Cadastra maquinário ocioso e monetiza frota parada na entressafra com seguro integrado e caução.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05840" y="5303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Renda passiva garantida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425696" y="2011680"/>
            <a:ext cx="3337560" cy="411480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0016" y="2286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[PLATAFORMA]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00016" y="2606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Conecta</a:t>
            </a:r>
            <a:endParaRPr lang="en-US" sz="3200" dirty="0"/>
          </a:p>
        </p:txBody>
      </p:sp>
      <p:sp>
        <p:nvSpPr>
          <p:cNvPr id="24" name="Shape 21"/>
          <p:cNvSpPr/>
          <p:nvPr/>
        </p:nvSpPr>
        <p:spPr>
          <a:xfrm>
            <a:off x="4700016" y="3291840"/>
            <a:ext cx="2788920" cy="0"/>
          </a:xfrm>
          <a:prstGeom prst="line">
            <a:avLst/>
          </a:prstGeom>
          <a:noFill/>
          <a:ln w="12700">
            <a:solidFill>
              <a:srgbClr val="1A1A1A">
                <a:alpha val="1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0016" y="35204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 de proximidade com cálculo de frete automático e geração de contrato digital antifraude.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700016" y="5303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Inteligência geoespacial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119872" y="2011680"/>
            <a:ext cx="3337560" cy="411480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94192" y="2286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[LOCATÁRIO]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394192" y="2606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Aluga</a:t>
            </a:r>
            <a:endParaRPr lang="en-US" sz="3200" dirty="0"/>
          </a:p>
        </p:txBody>
      </p:sp>
      <p:sp>
        <p:nvSpPr>
          <p:cNvPr id="30" name="Shape 27"/>
          <p:cNvSpPr/>
          <p:nvPr/>
        </p:nvSpPr>
        <p:spPr>
          <a:xfrm>
            <a:off x="8394192" y="3291840"/>
            <a:ext cx="2788920" cy="0"/>
          </a:xfrm>
          <a:prstGeom prst="line">
            <a:avLst/>
          </a:prstGeom>
          <a:noFill/>
          <a:ln w="12700">
            <a:solidFill>
              <a:srgbClr val="1A1A1A">
                <a:alpha val="1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94192" y="35204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Acessa implementos modernos sob demanda no momento exato da safra sem imobilizar capital produtivo.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8394192" y="5303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Zero dívida bancária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-1828800"/>
            <a:ext cx="4114800" cy="4114800"/>
          </a:xfrm>
          <a:prstGeom prst="ellipse">
            <a:avLst/>
          </a:prstGeom>
          <a:ln w="15240">
            <a:solidFill>
              <a:srgbClr val="7CB342">
                <a:alpha val="1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[03 — A PERSONA]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051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Quem é o Seu Antônio?</a:t>
            </a:r>
            <a:endParaRPr lang="en-US" sz="4800" dirty="0"/>
          </a:p>
        </p:txBody>
      </p:sp>
      <p:pic>
        <p:nvPicPr>
          <p:cNvPr id="15" name="Image 1" descr="C:\Users\lucas\Downloads\prototipo\assets\persona_seu_antonio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2103120" cy="21031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175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Produtor rural • 45 anos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01752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Região de Paulínia/SP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1752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Produtor rural de médio porte que precisa alugar por um período determinado da safra e não deseja financiar a compra.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31520" y="4297680"/>
            <a:ext cx="4389120" cy="1737360"/>
          </a:xfrm>
          <a:prstGeom prst="roundRect">
            <a:avLst/>
          </a:prstGeom>
          <a:solidFill>
            <a:srgbClr val="0F2A1D"/>
          </a:solidFill>
          <a:ln w="15240">
            <a:solidFill>
              <a:srgbClr val="F2C94C">
                <a:alpha val="5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0120" y="44805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“Preciso alugar uma colheitadeira por um período determinado da safra sem financiar um equipamento que não compensa pelo pouco uso ao ano.”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486400" y="1920240"/>
            <a:ext cx="5943600" cy="201168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60720" y="2103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[DORES &amp; FRUSTRAÇÕES]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760720" y="24231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Preços proibitivos de tratores e colheitadeiras novas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Janela de colheita curta sem máquinas disponíveis a tempo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Insegurança jurídica em acordos verbais informais com vizinhos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Frete elevado e imprevisível que inviabiliza locações distantes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86400" y="4114800"/>
            <a:ext cx="5943600" cy="192024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760720" y="4297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[GANHOS ESPERADOS]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760720" y="46177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Acesso pontual a tecnologia de ponta sem comprometer o caixa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Contrato formal transparente com checklist fotográfico prévio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Previsibilidade de custos com frete regional calculado por km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Foco total na produtividade da safra sem risco de paradas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0" y="-457200"/>
            <a:ext cx="2560320" cy="2560320"/>
          </a:xfrm>
          <a:prstGeom prst="ellipse">
            <a:avLst/>
          </a:prstGeom>
          <a:ln w="12700">
            <a:solidFill>
              <a:srgbClr val="7CB342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[04 — DIFERENCIAIS]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09728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Antes e depois.</a:t>
            </a:r>
            <a:endParaRPr lang="en-US" sz="5000" dirty="0"/>
          </a:p>
        </p:txBody>
      </p:sp>
      <p:sp>
        <p:nvSpPr>
          <p:cNvPr id="16" name="Shape 13"/>
          <p:cNvSpPr/>
          <p:nvPr/>
        </p:nvSpPr>
        <p:spPr>
          <a:xfrm>
            <a:off x="731520" y="2011680"/>
            <a:ext cx="4754880" cy="4114800"/>
          </a:xfrm>
          <a:prstGeom prst="roundRect">
            <a:avLst/>
          </a:prstGeom>
          <a:solidFill>
            <a:srgbClr val="0F2A1D"/>
          </a:solidFill>
          <a:ln w="15240">
            <a:solidFill>
              <a:srgbClr val="F5F1E8">
                <a:alpha val="3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[NEGOCIAÇÃO TRADICIONAL]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05840" y="2560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Modelo Informal &amp; Vulnerável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005840" y="3108960"/>
            <a:ext cx="4206240" cy="0"/>
          </a:xfrm>
          <a:prstGeom prst="line">
            <a:avLst/>
          </a:prstGeom>
          <a:noFill/>
          <a:ln w="12700">
            <a:solidFill>
              <a:srgbClr val="F5F1E8">
                <a:alpha val="2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29184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Acordos verbais sem nenhum respaldo jurídico
</a:t>
            </a:r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Custo e distância de frete totalmente desconhecidos
</a:t>
            </a:r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Risco de avarias sem caução ou vistoria documentada
</a:t>
            </a:r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Frota ociosa gerando depreciação passiva no galpão
</a:t>
            </a:r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Busca lenta e dependente de indicação informal
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66928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5600" dirty="0"/>
          </a:p>
        </p:txBody>
      </p:sp>
      <p:sp>
        <p:nvSpPr>
          <p:cNvPr id="22" name="Shape 19"/>
          <p:cNvSpPr/>
          <p:nvPr/>
        </p:nvSpPr>
        <p:spPr>
          <a:xfrm>
            <a:off x="6675120" y="2011680"/>
            <a:ext cx="4754880" cy="4114800"/>
          </a:xfrm>
          <a:prstGeom prst="round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[ALUGAMÁQUINA]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949440" y="2560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Ecossistema Confiável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949440" y="3108960"/>
            <a:ext cx="4206240" cy="0"/>
          </a:xfrm>
          <a:prstGeom prst="line">
            <a:avLst/>
          </a:prstGeom>
          <a:noFill/>
          <a:ln w="12700">
            <a:solidFill>
              <a:srgbClr val="1A1A1A">
                <a:alpha val="2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0" y="329184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Contrato digital com validade jurídica instantânea
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Cálculo automático de frete por raio de quilometragem
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Checklist fotográfico na entrega e devolução
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Monetização ativa de maquinário parado na entressafra
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Reputação auditada e avaliações mútuas na plataforma
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[05 — MODELO DE NEGÓCIO]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051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Como o negócio se sustenta.</a:t>
            </a:r>
            <a:endParaRPr lang="en-US" sz="4800" dirty="0"/>
          </a:p>
        </p:txBody>
      </p:sp>
      <p:sp>
        <p:nvSpPr>
          <p:cNvPr id="15" name="Shape 12"/>
          <p:cNvSpPr/>
          <p:nvPr/>
        </p:nvSpPr>
        <p:spPr>
          <a:xfrm>
            <a:off x="731520" y="1920240"/>
            <a:ext cx="5166360" cy="201168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2057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[PROPOSTA DE VALOR]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4231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Monetização de máquinas ociosas para proprietários rurais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Acesso sob demanda à tecnologia moderna para pequenos e médios agricultores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91072" y="1920240"/>
            <a:ext cx="5166360" cy="2011680"/>
          </a:xfrm>
          <a:prstGeom prst="round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2057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[FLUXOS DE RECEITA • DESTAQUE]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65392" y="24231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Comissão por aluguel intermediado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Taxa sobre serviços integrados de frete regional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4206240"/>
            <a:ext cx="5166360" cy="201168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[PARCERIAS ESTRATÉGICAS]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" y="47091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Cooperativas agrícolas regionais para captação direta de associados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Oficinas mecânicas credenciadas para laudos técnicos e assistência rápida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91072" y="4206240"/>
            <a:ext cx="5166360" cy="201168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65392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[CANAIS DE DISTRIBUIÇÃO]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65392" y="47091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Plataforma web responsiva adaptada ao homem do campo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Atendimento consultivo e notificações ativas via WhatsApp Business API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0" y="-457200"/>
            <a:ext cx="2560320" cy="2560320"/>
          </a:xfrm>
          <a:prstGeom prst="ellipse">
            <a:avLst/>
          </a:prstGeom>
          <a:ln w="12700">
            <a:solidFill>
              <a:srgbClr val="7CB342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[06 — MVP]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051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que entra no MVP.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731520" y="1920240"/>
            <a:ext cx="3337560" cy="19659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2103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874520" y="2148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Regional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60120" y="2697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 georreferenciado por raio de km, categoria e potência.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425696" y="1920240"/>
            <a:ext cx="3337560" cy="19659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54296" y="2103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5568696" y="2148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 de Máquinas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654296" y="2697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de equipamentos ociosos com fotos, especificações e período livre.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119872" y="1920240"/>
            <a:ext cx="3337560" cy="19659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48472" y="2103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9262872" y="2148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de Frete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348472" y="2697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Estimativa de transporte baseada na distância real entre propriedades.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31520" y="4160520"/>
            <a:ext cx="3337560" cy="19659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0120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1874520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Digital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60120" y="4937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automática de contrato padrão em PDF para formalizar o aluguel.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425696" y="4160520"/>
            <a:ext cx="3337560" cy="19659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54296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5568696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Integrado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654296" y="4937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 formal com histórico de negociação e avaliação bilateral pós-locação.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8119872" y="4160520"/>
            <a:ext cx="3337560" cy="19659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48472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9262872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 Assistida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8348472" y="4937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 técnico aplicado pela equipe antes de aprovar o anúncio da máquina.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[07 — STACK TECNOLÓGICO]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051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Arquitetura limpa.</a:t>
            </a:r>
            <a:endParaRPr lang="en-US" sz="4800" dirty="0"/>
          </a:p>
        </p:txBody>
      </p:sp>
      <p:sp>
        <p:nvSpPr>
          <p:cNvPr id="15" name="Shape 12"/>
          <p:cNvSpPr/>
          <p:nvPr/>
        </p:nvSpPr>
        <p:spPr>
          <a:xfrm>
            <a:off x="731520" y="1965960"/>
            <a:ext cx="2331720" cy="40233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[FRONTEND]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TypeScript / JavaScript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14400" y="3383280"/>
            <a:ext cx="1965960" cy="0"/>
          </a:xfrm>
          <a:prstGeom prst="line">
            <a:avLst/>
          </a:prstGeom>
          <a:noFill/>
          <a:ln w="12700">
            <a:solidFill>
              <a:srgbClr val="1A1A1A">
                <a:alpha val="1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5661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estruturada com HTML e CSS, limpa, responsiva e adaptada ao campo.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94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e CSS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108960" y="36576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3529584" y="1965960"/>
            <a:ext cx="2331720" cy="40233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12464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[BACKEND]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712464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Java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3712464" y="3383280"/>
            <a:ext cx="1965960" cy="0"/>
          </a:xfrm>
          <a:prstGeom prst="line">
            <a:avLst/>
          </a:prstGeom>
          <a:noFill/>
          <a:ln w="12700">
            <a:solidFill>
              <a:srgbClr val="1A1A1A">
                <a:alpha val="1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12464" y="35661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estruturado para regras de negócio, integrações e API para o frontend.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712464" y="5394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API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07024" y="36576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Shape 26"/>
          <p:cNvSpPr/>
          <p:nvPr/>
        </p:nvSpPr>
        <p:spPr>
          <a:xfrm>
            <a:off x="6327648" y="1965960"/>
            <a:ext cx="2331720" cy="40233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10528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[BANCO DE DADOS]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510528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MongoDB Atlas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510528" y="3383280"/>
            <a:ext cx="1965960" cy="0"/>
          </a:xfrm>
          <a:prstGeom prst="line">
            <a:avLst/>
          </a:prstGeom>
          <a:noFill/>
          <a:ln w="12700">
            <a:solidFill>
              <a:srgbClr val="1A1A1A">
                <a:alpha val="1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10528" y="35661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NoSQL gerenciado em nuvem com suporte geoespacial para busca regional.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510528" y="5394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 &amp; Geo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705088" y="36576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2600" dirty="0"/>
          </a:p>
        </p:txBody>
      </p:sp>
      <p:sp>
        <p:nvSpPr>
          <p:cNvPr id="36" name="Shape 33"/>
          <p:cNvSpPr/>
          <p:nvPr/>
        </p:nvSpPr>
        <p:spPr>
          <a:xfrm>
            <a:off x="9125712" y="1965960"/>
            <a:ext cx="2331720" cy="40233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08592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[INTEGRAÇÕES]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308592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WhatsApp &amp; Google Forms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9308592" y="3383280"/>
            <a:ext cx="1965960" cy="0"/>
          </a:xfrm>
          <a:prstGeom prst="line">
            <a:avLst/>
          </a:prstGeom>
          <a:noFill/>
          <a:ln w="12700">
            <a:solidFill>
              <a:srgbClr val="1A1A1A">
                <a:alpha val="1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308592" y="35661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Business API para suporte direto e Google Forms para pesquisas de validação.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308592" y="5394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&amp; Suporte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241280" y="-457200"/>
            <a:ext cx="2560320" cy="2560320"/>
          </a:xfrm>
          <a:prstGeom prst="ellipse">
            <a:avLst/>
          </a:prstGeom>
          <a:ln w="12700">
            <a:solidFill>
              <a:srgbClr val="7CB342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[08 — ROADMAP 8 SEMANAS]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31520" y="1051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 código ao produtor.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731520" y="3749040"/>
            <a:ext cx="10725912" cy="0"/>
          </a:xfrm>
          <a:prstGeom prst="line">
            <a:avLst/>
          </a:prstGeom>
          <a:noFill/>
          <a:ln w="31750">
            <a:solidFill>
              <a:srgbClr val="F2C94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741932" y="3547872"/>
            <a:ext cx="402336" cy="402336"/>
          </a:xfrm>
          <a:prstGeom prst="ellipse">
            <a:avLst/>
          </a:prstGeom>
          <a:solidFill>
            <a:srgbClr val="F2C94C"/>
          </a:solidFill>
          <a:ln w="25400">
            <a:solidFill>
              <a:srgbClr val="0F2A1D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31520" y="1874520"/>
            <a:ext cx="2423160" cy="169164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68680" y="1984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[S1-2 CADASTRO &amp; BUSCA]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8680" y="2221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Cadastro &amp; Busca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68680" y="2560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 de máquinas (Lucas Rodrigues Xavier) e busca com filtro regional (Mateus Oliveira).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32004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Resp: Lucas Xavier &amp; Mateus Oliveira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12564" y="3547872"/>
            <a:ext cx="402336" cy="402336"/>
          </a:xfrm>
          <a:prstGeom prst="ellipse">
            <a:avLst/>
          </a:prstGeom>
          <a:solidFill>
            <a:srgbClr val="F2C94C"/>
          </a:solidFill>
          <a:ln w="25400">
            <a:solidFill>
              <a:srgbClr val="0F2A1D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3502152" y="4251960"/>
            <a:ext cx="2423160" cy="169164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3639312" y="43616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[S3-4 FRETE &amp; CONTRATO]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639312" y="4599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Frete &amp; Contrato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3639312" y="4937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de frete estimado (Tiago Medeiros) e contrato digital simplificado (Kauan Dias).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639312" y="5577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Resp: Tiago Medeiros &amp; Kauan Dias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283196" y="3547872"/>
            <a:ext cx="402336" cy="402336"/>
          </a:xfrm>
          <a:prstGeom prst="ellipse">
            <a:avLst/>
          </a:prstGeom>
          <a:solidFill>
            <a:srgbClr val="F2C94C"/>
          </a:solidFill>
          <a:ln w="25400">
            <a:solidFill>
              <a:srgbClr val="0F2A1D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6272784" y="1874520"/>
            <a:ext cx="2423160" cy="169164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409944" y="19842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[S4-5 CHAT &amp; AVALIAÇÃO]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09944" y="2221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Chat &amp; Reputação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6409944" y="2560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entre as partes (Leonardo Alves) e avaliação pós-locação (Lucas Rodrigues Xavier).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09944" y="32004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Resp: Leonardo Alves &amp; Lucas Xavier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0053828" y="3547872"/>
            <a:ext cx="402336" cy="402336"/>
          </a:xfrm>
          <a:prstGeom prst="ellipse">
            <a:avLst/>
          </a:prstGeom>
          <a:solidFill>
            <a:srgbClr val="F2C94C"/>
          </a:solidFill>
          <a:ln w="25400">
            <a:solidFill>
              <a:srgbClr val="0F2A1D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043416" y="4251960"/>
            <a:ext cx="2423160" cy="169164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180576" y="43616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[S6-8 TESTES]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180576" y="4599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Testes &amp; Entrega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9180576" y="4937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com usuários piloto (Semana 6) e ajustes finais para lançamento do MVP (Semanas 7-8).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180576" y="5577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Resp: Toda a Equipe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0" y="3657600"/>
            <a:ext cx="4389120" cy="438912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92640" y="4389120"/>
            <a:ext cx="2926080" cy="2926080"/>
          </a:xfrm>
          <a:prstGeom prst="ellipse">
            <a:avLst/>
          </a:prstGeom>
          <a:ln w="12700">
            <a:solidFill>
              <a:srgbClr val="7CB342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[09 — PROTÓTIPOS]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051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Design objetivo.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731520" y="1965960"/>
            <a:ext cx="3337560" cy="40233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2093976"/>
            <a:ext cx="109728" cy="109728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18" name="Shape 15"/>
          <p:cNvSpPr/>
          <p:nvPr/>
        </p:nvSpPr>
        <p:spPr>
          <a:xfrm>
            <a:off x="1051560" y="2093976"/>
            <a:ext cx="109728" cy="109728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19" name="Shape 16"/>
          <p:cNvSpPr/>
          <p:nvPr/>
        </p:nvSpPr>
        <p:spPr>
          <a:xfrm>
            <a:off x="1207008" y="2093976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0" name="Shape 17"/>
          <p:cNvSpPr/>
          <p:nvPr/>
        </p:nvSpPr>
        <p:spPr>
          <a:xfrm>
            <a:off x="1417320" y="2057400"/>
            <a:ext cx="2468880" cy="201168"/>
          </a:xfrm>
          <a:prstGeom prst="roundRect">
            <a:avLst/>
          </a:prstGeom>
          <a:solidFill>
            <a:srgbClr val="EAE5D9"/>
          </a:solidFill>
          <a:ln/>
        </p:spPr>
      </p:sp>
      <p:sp>
        <p:nvSpPr>
          <p:cNvPr id="21" name="Text 18"/>
          <p:cNvSpPr/>
          <p:nvPr/>
        </p:nvSpPr>
        <p:spPr>
          <a:xfrm>
            <a:off x="1508760" y="20574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alugamaquina.com.br/buscar</a:t>
            </a:r>
            <a:endParaRPr lang="en-US" sz="850" dirty="0"/>
          </a:p>
        </p:txBody>
      </p:sp>
      <p:pic>
        <p:nvPicPr>
          <p:cNvPr id="22" name="Image 1" descr="C:\Users\lucas\Downloads\prototipo\assets\screens\01_busca_fil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13432"/>
            <a:ext cx="3063240" cy="31089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1520" y="5532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[01 BUSCA GEOESPACIAL]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25696" y="1965960"/>
            <a:ext cx="3337560" cy="40233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90288" y="2093976"/>
            <a:ext cx="109728" cy="109728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26" name="Shape 22"/>
          <p:cNvSpPr/>
          <p:nvPr/>
        </p:nvSpPr>
        <p:spPr>
          <a:xfrm>
            <a:off x="4745736" y="2093976"/>
            <a:ext cx="109728" cy="109728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27" name="Shape 23"/>
          <p:cNvSpPr/>
          <p:nvPr/>
        </p:nvSpPr>
        <p:spPr>
          <a:xfrm>
            <a:off x="4901184" y="2093976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8" name="Shape 24"/>
          <p:cNvSpPr/>
          <p:nvPr/>
        </p:nvSpPr>
        <p:spPr>
          <a:xfrm>
            <a:off x="5111496" y="2057400"/>
            <a:ext cx="2468880" cy="201168"/>
          </a:xfrm>
          <a:prstGeom prst="roundRect">
            <a:avLst/>
          </a:prstGeom>
          <a:solidFill>
            <a:srgbClr val="EAE5D9"/>
          </a:solidFill>
          <a:ln/>
        </p:spPr>
      </p:sp>
      <p:sp>
        <p:nvSpPr>
          <p:cNvPr id="29" name="Text 25"/>
          <p:cNvSpPr/>
          <p:nvPr/>
        </p:nvSpPr>
        <p:spPr>
          <a:xfrm>
            <a:off x="5202936" y="20574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alugamaquina.com.br/detalhe</a:t>
            </a:r>
            <a:endParaRPr lang="en-US" sz="850" dirty="0"/>
          </a:p>
        </p:txBody>
      </p:sp>
      <p:pic>
        <p:nvPicPr>
          <p:cNvPr id="30" name="Image 2" descr="C:\Users\lucas\Downloads\prototipo\assets\screens\03_detalhe_fre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2313432"/>
            <a:ext cx="3063240" cy="31089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425696" y="5532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[02 DETALHE &amp; FRETE]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119872" y="1965960"/>
            <a:ext cx="3337560" cy="402336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284464" y="2093976"/>
            <a:ext cx="109728" cy="109728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34" name="Shape 29"/>
          <p:cNvSpPr/>
          <p:nvPr/>
        </p:nvSpPr>
        <p:spPr>
          <a:xfrm>
            <a:off x="8439912" y="2093976"/>
            <a:ext cx="109728" cy="109728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35" name="Shape 30"/>
          <p:cNvSpPr/>
          <p:nvPr/>
        </p:nvSpPr>
        <p:spPr>
          <a:xfrm>
            <a:off x="8595360" y="2093976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6" name="Shape 31"/>
          <p:cNvSpPr/>
          <p:nvPr/>
        </p:nvSpPr>
        <p:spPr>
          <a:xfrm>
            <a:off x="8805672" y="2057400"/>
            <a:ext cx="2468880" cy="201168"/>
          </a:xfrm>
          <a:prstGeom prst="roundRect">
            <a:avLst/>
          </a:prstGeom>
          <a:solidFill>
            <a:srgbClr val="EAE5D9"/>
          </a:solidFill>
          <a:ln/>
        </p:spPr>
      </p:sp>
      <p:sp>
        <p:nvSpPr>
          <p:cNvPr id="37" name="Text 32"/>
          <p:cNvSpPr/>
          <p:nvPr/>
        </p:nvSpPr>
        <p:spPr>
          <a:xfrm>
            <a:off x="8897112" y="20574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alugamaquina.com.br/contrato</a:t>
            </a:r>
            <a:endParaRPr lang="en-US" sz="850" dirty="0"/>
          </a:p>
        </p:txBody>
      </p:sp>
      <p:pic>
        <p:nvPicPr>
          <p:cNvPr id="38" name="Image 3" descr="C:\Users\lucas\Downloads\prototipo\assets\screens\04_contrato_digi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313432"/>
            <a:ext cx="3063240" cy="31089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119872" y="5532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[03 CONTRATO DIGITAL]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389120" y="-1828800"/>
            <a:ext cx="4114800" cy="4114800"/>
          </a:xfrm>
          <a:prstGeom prst="ellipse">
            <a:avLst/>
          </a:prstGeom>
          <a:ln w="15240">
            <a:solidFill>
              <a:srgbClr val="7CB342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[10 — DIREÇÃO ESTRATÉGICA]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1520" y="1051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Onde atacar primeiro.</a:t>
            </a:r>
            <a:endParaRPr lang="en-US" sz="4800" dirty="0"/>
          </a:p>
        </p:txBody>
      </p:sp>
      <p:sp>
        <p:nvSpPr>
          <p:cNvPr id="15" name="Shape 12"/>
          <p:cNvSpPr/>
          <p:nvPr/>
        </p:nvSpPr>
        <p:spPr>
          <a:xfrm>
            <a:off x="731520" y="1920240"/>
            <a:ext cx="5166360" cy="2011680"/>
          </a:xfrm>
          <a:prstGeom prst="round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05840" y="2057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[ESTRATÉGIA SO • FORÇAS + OPORTUNIDADES]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4231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Parceria direta com cooperativas agrícolas regionais para absorver demanda reprimida e validar o produto com chancela de alta confiança institucional.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91072" y="1920240"/>
            <a:ext cx="5166360" cy="201168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565392" y="2057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[ESTRATÉGIA WO • FRAQUEZAS + OPORTUNIDADES]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65392" y="24231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Aproveitar o crescimento do uso de aplicativos por produtores para lançar um MVP simplificado, com cálculo de frete e contrato ainda assistidos manualmente.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4206240"/>
            <a:ext cx="5166360" cy="2011680"/>
          </a:xfrm>
          <a:prstGeom prst="round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005840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[ESTRATÉGIA ST • FORÇAS + AMEAÇAS]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" y="47091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digital com caução e checklist fotográfico para quebrar a desconfiança cultural de calotes e danos mecânicos ao equipamento.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91072" y="4206240"/>
            <a:ext cx="5166360" cy="2011680"/>
          </a:xfrm>
          <a:prstGeom prst="round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565392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[ESTRATÉGIA WT • FRAQUEZAS + AMEAÇAS]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65392" y="47091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geográfico estrito na microrregião de Paulínia para assegurar densidade de ofertas e suporte presencial antes de iniciar qualquer expansão.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12880" y="653796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68912" y="6281928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ln w="19050">
            <a:solidFill>
              <a:srgbClr val="7CB342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0" y="-457200"/>
            <a:ext cx="2560320" cy="2560320"/>
          </a:xfrm>
          <a:prstGeom prst="ellipse">
            <a:avLst/>
          </a:prstGeom>
          <a:ln w="12700">
            <a:solidFill>
              <a:srgbClr val="7CB342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84048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[11 — LANÇAMENTO PILOTO]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731520"/>
            <a:ext cx="10725912" cy="0"/>
          </a:xfrm>
          <a:prstGeom prst="line">
            <a:avLst/>
          </a:prstGeom>
          <a:noFill/>
          <a:ln w="12700">
            <a:solidFill>
              <a:srgbClr val="F2C94C">
                <a:alpha val="55000"/>
              </a:srgbClr>
            </a:solidFill>
            <a:prstDash val="solid"/>
          </a:ln>
        </p:spPr>
      </p:sp>
      <p:pic>
        <p:nvPicPr>
          <p:cNvPr id="15" name="Image 1" descr="C:\Users\lucas\Downloads\prototipo\assets\paulinia_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88952" cy="1508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" y="24688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Paulínia primeiro.</a:t>
            </a:r>
            <a:endParaRPr lang="en-US" sz="5000" dirty="0"/>
          </a:p>
        </p:txBody>
      </p:sp>
      <p:sp>
        <p:nvSpPr>
          <p:cNvPr id="17" name="Shape 13"/>
          <p:cNvSpPr/>
          <p:nvPr/>
        </p:nvSpPr>
        <p:spPr>
          <a:xfrm>
            <a:off x="731520" y="3246120"/>
            <a:ext cx="2423160" cy="2011680"/>
          </a:xfrm>
          <a:prstGeom prst="roundRect">
            <a:avLst/>
          </a:prstGeom>
          <a:solidFill>
            <a:srgbClr val="F5F1E8">
              <a:alpha val="5000"/>
            </a:srgbClr>
          </a:solidFill>
          <a:ln w="12700">
            <a:solidFill>
              <a:srgbClr val="F5F1E8">
                <a:alpha val="1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3429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Regional</a:t>
            </a:r>
            <a:endParaRPr lang="en-US" sz="3800" dirty="0"/>
          </a:p>
        </p:txBody>
      </p:sp>
      <p:sp>
        <p:nvSpPr>
          <p:cNvPr id="19" name="Text 15"/>
          <p:cNvSpPr/>
          <p:nvPr/>
        </p:nvSpPr>
        <p:spPr>
          <a:xfrm>
            <a:off x="868680" y="4206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Regional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68680" y="4617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Lançamento na região de Paulínia e municípios vizinhos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02152" y="3246120"/>
            <a:ext cx="2423160" cy="2011680"/>
          </a:xfrm>
          <a:prstGeom prst="roundRect">
            <a:avLst/>
          </a:prstGeom>
          <a:solidFill>
            <a:srgbClr val="F5F1E8">
              <a:alpha val="5000"/>
            </a:srgbClr>
          </a:solidFill>
          <a:ln w="12700">
            <a:solidFill>
              <a:srgbClr val="F5F1E8">
                <a:alpha val="1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39312" y="3429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Produtores</a:t>
            </a:r>
            <a:endParaRPr lang="en-US" sz="3800" dirty="0"/>
          </a:p>
        </p:txBody>
      </p:sp>
      <p:sp>
        <p:nvSpPr>
          <p:cNvPr id="23" name="Text 19"/>
          <p:cNvSpPr/>
          <p:nvPr/>
        </p:nvSpPr>
        <p:spPr>
          <a:xfrm>
            <a:off x="3639312" y="4206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Pequenos e Médios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639312" y="4617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Engajamento direto com agricultores e cooperativas locais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272784" y="3246120"/>
            <a:ext cx="2423160" cy="2011680"/>
          </a:xfrm>
          <a:prstGeom prst="roundRect">
            <a:avLst/>
          </a:prstGeom>
          <a:solidFill>
            <a:srgbClr val="F5F1E8">
              <a:alpha val="5000"/>
            </a:srgbClr>
          </a:solidFill>
          <a:ln w="12700">
            <a:solidFill>
              <a:srgbClr val="F5F1E8">
                <a:alpha val="1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09944" y="3429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 semanas</a:t>
            </a:r>
            <a:endParaRPr lang="en-US" sz="3800" dirty="0"/>
          </a:p>
        </p:txBody>
      </p:sp>
      <p:sp>
        <p:nvSpPr>
          <p:cNvPr id="27" name="Text 23"/>
          <p:cNvSpPr/>
          <p:nvPr/>
        </p:nvSpPr>
        <p:spPr>
          <a:xfrm>
            <a:off x="6409944" y="4206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Duração do piloto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409944" y="4617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completo de desenvolvimento e validação do MVP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9043416" y="3246120"/>
            <a:ext cx="2423160" cy="2011680"/>
          </a:xfrm>
          <a:prstGeom prst="roundRect">
            <a:avLst/>
          </a:prstGeom>
          <a:solidFill>
            <a:srgbClr val="F5F1E8">
              <a:alpha val="5000"/>
            </a:srgbClr>
          </a:solidFill>
          <a:ln w="12700">
            <a:solidFill>
              <a:srgbClr val="F5F1E8">
                <a:alpha val="1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180576" y="3429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Comissão</a:t>
            </a:r>
            <a:endParaRPr lang="en-US" sz="3800" dirty="0"/>
          </a:p>
        </p:txBody>
      </p:sp>
      <p:sp>
        <p:nvSpPr>
          <p:cNvPr id="31" name="Text 27"/>
          <p:cNvSpPr/>
          <p:nvPr/>
        </p:nvSpPr>
        <p:spPr>
          <a:xfrm>
            <a:off x="9180576" y="4206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Intermediação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9180576" y="4617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Monetização sustentável conforme Business Model Canvas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731520" y="55778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“Antes de escalar, provar que o modelo funciona com excelência e liquidez em uma microrregião produtiva.”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Downloads\prototipo\assets\bg_do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2286000"/>
            <a:ext cx="5943600" cy="5943600"/>
          </a:xfrm>
          <a:prstGeom prst="ellipse">
            <a:avLst/>
          </a:prstGeom>
          <a:ln w="25400">
            <a:solidFill>
              <a:srgbClr val="7CB342">
                <a:alpha val="2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686800" y="3200400"/>
            <a:ext cx="4114800" cy="4114800"/>
          </a:xfrm>
          <a:prstGeom prst="ellipse">
            <a:avLst/>
          </a:prstGeom>
          <a:ln w="15240">
            <a:solidFill>
              <a:srgbClr val="7CB342">
                <a:alpha val="1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12880" y="320040"/>
            <a:ext cx="256032" cy="0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68912" y="320040"/>
            <a:ext cx="0" cy="256032"/>
          </a:xfrm>
          <a:prstGeom prst="line">
            <a:avLst/>
          </a:prstGeom>
          <a:noFill/>
          <a:ln w="1524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5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AlugaMáquina</a:t>
            </a:r>
            <a:endParaRPr lang="en-US" sz="88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2C9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futuro da locação agrícola regional.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657600" y="4206240"/>
            <a:ext cx="4873752" cy="0"/>
          </a:xfrm>
          <a:prstGeom prst="line">
            <a:avLst/>
          </a:prstGeom>
          <a:noFill/>
          <a:ln w="19050">
            <a:solidFill>
              <a:srgbClr val="F2C94C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[OBRIGADO] · PUC-CAMPINAS · 2026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516636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Kauan Dias · Leonardo Alves · Lucas Xavier · Mateus Oliveira · Tiago Medeiros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Orientadora: Profa. Dra. Renata Arantes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</cp:coreProperties>
</file>